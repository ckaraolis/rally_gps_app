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1  /  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5029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 dirty="0">
                <a:solidFill>
                  <a:srgbClr val="FF7A18"/>
                </a:solidFill>
                <a:latin typeface="Arial Narrow"/>
              </a:rPr>
              <a:t>GTL RALLY GPS APPLICATION</a:t>
            </a:r>
            <a:r>
              <a:rPr sz="1300" b="1" dirty="0">
                <a:solidFill>
                  <a:srgbClr val="FF7A18"/>
                </a:solidFill>
                <a:latin typeface="Arial Narrow"/>
              </a:rPr>
              <a:t>·  APPLICATION OVERVIEW FOR FIA REVIEW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96012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0" b="1" dirty="0">
                <a:solidFill>
                  <a:srgbClr val="F3EAD8"/>
                </a:solidFill>
                <a:latin typeface="Arial Narrow"/>
              </a:rPr>
              <a:t>RALLY GPS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" y="2029968"/>
            <a:ext cx="1143000" cy="4572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94360" y="22402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3EAD8"/>
                </a:solidFill>
                <a:latin typeface="Calibri"/>
              </a:rPr>
              <a:t>Supplementary live tracking and stage-flag safety tool
for the Cyprus Rally organiser and race control.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4160520"/>
            <a:ext cx="2697480" cy="1234440"/>
          </a:xfrm>
          <a:prstGeom prst="roundRect">
            <a:avLst/>
          </a:prstGeom>
          <a:solidFill>
            <a:srgbClr val="181A14"/>
          </a:solidFill>
          <a:ln w="9525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58952" y="4279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18"/>
                </a:solidFill>
                <a:latin typeface="Arial Narrow"/>
              </a:rPr>
              <a:t>PREPARED FOR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952" y="45720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F3EAD8"/>
                </a:solidFill>
                <a:latin typeface="Calibri"/>
              </a:rPr>
              <a:t>FIA</a:t>
            </a:r>
            <a:r>
              <a:rPr lang="en-US" sz="1300" b="0" dirty="0">
                <a:solidFill>
                  <a:srgbClr val="F3EAD8"/>
                </a:solidFill>
                <a:latin typeface="Calibri"/>
              </a:rPr>
              <a:t>/NATIONAL</a:t>
            </a:r>
            <a:r>
              <a:rPr sz="1300" b="0" dirty="0">
                <a:solidFill>
                  <a:srgbClr val="F3EAD8"/>
                </a:solidFill>
                <a:latin typeface="Calibri"/>
              </a:rPr>
              <a:t> — event safety / operations review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29000" y="4160520"/>
            <a:ext cx="2697480" cy="1234440"/>
          </a:xfrm>
          <a:prstGeom prst="roundRect">
            <a:avLst/>
          </a:prstGeom>
          <a:solidFill>
            <a:srgbClr val="181A14"/>
          </a:solidFill>
          <a:ln w="9525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593592" y="4279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18"/>
                </a:solidFill>
                <a:latin typeface="Arial Narrow"/>
              </a:rPr>
              <a:t>EVENT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93592" y="45720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3EAD8"/>
                </a:solidFill>
                <a:latin typeface="Calibri"/>
              </a:rPr>
              <a:t>Cyprus Rally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63640" y="4160520"/>
            <a:ext cx="2697480" cy="1234440"/>
          </a:xfrm>
          <a:prstGeom prst="roundRect">
            <a:avLst/>
          </a:prstGeom>
          <a:solidFill>
            <a:srgbClr val="181A14"/>
          </a:solidFill>
          <a:ln w="9525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28232" y="4279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18"/>
                </a:solidFill>
                <a:latin typeface="Arial Narrow"/>
              </a:rPr>
              <a:t>DOCUMENT DATE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28232" y="45720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3EAD8"/>
                </a:solidFill>
                <a:latin typeface="Calibri"/>
              </a:rPr>
              <a:t>September 2026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98280" y="4160520"/>
            <a:ext cx="2697480" cy="1234440"/>
          </a:xfrm>
          <a:prstGeom prst="roundRect">
            <a:avLst/>
          </a:prstGeom>
          <a:solidFill>
            <a:srgbClr val="181A14"/>
          </a:solidFill>
          <a:ln w="9525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62872" y="4279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18"/>
                </a:solidFill>
                <a:latin typeface="Arial Narrow"/>
              </a:rPr>
              <a:t>STATUS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62872" y="45720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3EAD8"/>
                </a:solidFill>
                <a:latin typeface="Calibri"/>
              </a:rPr>
              <a:t>Software application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01  /  PURPOSE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Purpose and scope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2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5486400" cy="32461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324612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WHAT RALLY GPS IS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515721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Live GPS from competing crews’ smartphones to race control.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Authenticated HQ map, plus Google Earth Pro live KML.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Per-event KMZ: road, special stages, and control pins.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FLAG / RED FLAG for cars currently on that special stage.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Stopped-crew OK / SOS confirmation on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02  /  ARCHITECTURE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System overview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3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2743200" cy="23317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233172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24505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1  DRIVER DEVICE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241401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Android application or HTTPS web page.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Sends GPS and crew actions (OK / SOS / flag ack).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383280" y="1143000"/>
            <a:ext cx="2743200" cy="23317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383280" y="1143000"/>
            <a:ext cx="54864" cy="233172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84448" y="1252728"/>
            <a:ext cx="24505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2  RALLY GPS SERVER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84448" y="1527048"/>
            <a:ext cx="241401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Receives live fixes and offline batches.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Binds each car to the LIVE rally KMZ.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Stores flags and SOS.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9360" y="1143000"/>
            <a:ext cx="2697480" cy="23317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309360" y="1143000"/>
            <a:ext cx="54864" cy="2331720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10528" y="1252728"/>
            <a:ext cx="24048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3  RACE CONTROL HQ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10528" y="1527048"/>
            <a:ext cx="236829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Authenticated dashboard.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Full-screen map beside sidebar.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Cars as numbers; stage flags.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189720" y="1143000"/>
            <a:ext cx="2514600" cy="23317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189720" y="1143000"/>
            <a:ext cx="54864" cy="2331720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390888" y="1252728"/>
            <a:ext cx="2221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4  GOOGLE EARTH PRO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90888" y="1527048"/>
            <a:ext cx="218541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Network Link KML.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Refresh every </a:t>
            </a:r>
            <a:r>
              <a:rPr lang="en-US" sz="1200" dirty="0">
                <a:solidFill>
                  <a:srgbClr val="F3EAD8"/>
                </a:solidFill>
                <a:latin typeface="Calibri"/>
              </a:rPr>
              <a:t>2</a:t>
            </a:r>
            <a:r>
              <a:rPr sz="1200" dirty="0">
                <a:solidFill>
                  <a:srgbClr val="F3EAD8"/>
                </a:solidFill>
                <a:latin typeface="Calibri"/>
              </a:rPr>
              <a:t> seconds.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Same live rally feed.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3657600"/>
            <a:ext cx="11247120" cy="260604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57200" y="3657600"/>
            <a:ext cx="54864" cy="260604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58368" y="3767328"/>
            <a:ext cx="109545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REFRESH AND LIVE STATE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" y="4041648"/>
            <a:ext cx="109179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HQ map polls cars about every </a:t>
            </a:r>
            <a:r>
              <a:rPr lang="en-US" sz="1200" dirty="0">
                <a:solidFill>
                  <a:srgbClr val="F3EAD8"/>
                </a:solidFill>
                <a:latin typeface="Calibri"/>
              </a:rPr>
              <a:t>2</a:t>
            </a:r>
            <a:r>
              <a:rPr sz="1200" dirty="0">
                <a:solidFill>
                  <a:srgbClr val="F3EAD8"/>
                </a:solidFill>
                <a:latin typeface="Calibri"/>
              </a:rPr>
              <a:t> seconds. Driver devices poll stage-flag state about every 2 seconds (web) or </a:t>
            </a:r>
            <a:r>
              <a:rPr lang="en-US" sz="1200" dirty="0">
                <a:solidFill>
                  <a:srgbClr val="F3EAD8"/>
                </a:solidFill>
                <a:latin typeface="Calibri"/>
              </a:rPr>
              <a:t>2</a:t>
            </a:r>
            <a:r>
              <a:rPr sz="1200" dirty="0">
                <a:solidFill>
                  <a:srgbClr val="F3EAD8"/>
                </a:solidFill>
                <a:latin typeface="Calibri"/>
              </a:rPr>
              <a:t> seconds (Android).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A car is LIVE while tracking and a fix has been received within 3 minutes; otherwise HQ shows last GPS / no signal.</a:t>
            </a:r>
          </a:p>
          <a:p>
            <a:pPr algn="l">
              <a:spcAft>
                <a:spcPts val="600"/>
              </a:spcAft>
            </a:pPr>
            <a:endParaRPr sz="1200" dirty="0">
              <a:solidFill>
                <a:srgbClr val="F3EAD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03  /  EVENT DATA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Rally and route binding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4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NAMED EVENT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HQ creates a rally with name and dates.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Cyprus Rally is a distinct event, not a global route.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9768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297680" y="114300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49884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LIFECYCLE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9884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draft → LIVE → ended.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Cars are drawn on the map only while a rally is LIVE.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3816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138160" y="114300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3932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ONE LIVE RALLY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3932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Going live snapshots and ends any other live rally.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HQ is bound to a single course.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361188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57200" y="361188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368" y="372160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PER-RALLY KMZ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" y="399592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KMZ/KML is uploaded for the selected rally only.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Other events keep their own roads, stages, and pins.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297680" y="361188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297680" y="361188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498848" y="372160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GO LIVE AGAIN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98848" y="399592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An ended rally can be set live again to review the stored snapshot.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138160" y="361188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138160" y="361188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39328" y="372160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CLEAR / REPLACE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39328" y="399592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HQ can clear or replace that rally’s route without affecting other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04  /  TRACKING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Live tracking and car display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5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5760720" cy="36576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3657600"/>
          </a:xfrm>
          <a:prstGeom prst="rect">
            <a:avLst/>
          </a:prstGeom>
          <a:solidFill>
            <a:srgbClr val="B6F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5468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6F04A"/>
                </a:solidFill>
                <a:latin typeface="Arial Narrow"/>
              </a:rPr>
              <a:t>RACE CONTROL MAP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543153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Cars appear as competition numbers (no live trail clutter).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Click a number: name, motion, speed (km/h), section, OK/SOS.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= moving (~4 km/h+); blue = stopped; red = SOS.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List: LIVE · NO SIGNAL / LAST GPS · STOPPED.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Trails are not drawn live by default; HQ may show one route or download GPX.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“Refresh lost cars” holds last GPS and requests reconnect.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0" y="1143000"/>
            <a:ext cx="5303520" cy="201168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400800" y="1143000"/>
            <a:ext cx="54864" cy="201168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601968" y="1252728"/>
            <a:ext cx="5010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MARKER COLOUR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01968" y="1527048"/>
            <a:ext cx="497433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— moving (speed above ~1.2 m/s / ~4 km/h).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Blue — on course but not moving.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Red — crew has declared RED SOS.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0" y="3291840"/>
            <a:ext cx="5303520" cy="150876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400800" y="3291840"/>
            <a:ext cx="54864" cy="1508760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601968" y="3401568"/>
            <a:ext cx="50109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GOOGLE EARTH PRO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01968" y="3675888"/>
            <a:ext cx="497433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HQ downloads a session-bound Network Link KML.</a:t>
            </a:r>
          </a:p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Earth refreshes every </a:t>
            </a:r>
            <a:r>
              <a:rPr lang="en-US" sz="1200" dirty="0">
                <a:solidFill>
                  <a:srgbClr val="F3EAD8"/>
                </a:solidFill>
                <a:latin typeface="Calibri"/>
              </a:rPr>
              <a:t>2</a:t>
            </a:r>
            <a:r>
              <a:rPr sz="1200" dirty="0">
                <a:solidFill>
                  <a:srgbClr val="F3EAD8"/>
                </a:solidFill>
                <a:latin typeface="Calibri"/>
              </a:rPr>
              <a:t> seconds. Route </a:t>
            </a:r>
            <a:r>
              <a:rPr sz="1200" dirty="0" err="1">
                <a:solidFill>
                  <a:srgbClr val="F3EAD8"/>
                </a:solidFill>
                <a:latin typeface="Calibri"/>
              </a:rPr>
              <a:t>colours</a:t>
            </a:r>
            <a:r>
              <a:rPr sz="1200" dirty="0">
                <a:solidFill>
                  <a:srgbClr val="F3EAD8"/>
                </a:solidFill>
                <a:latin typeface="Calibri"/>
              </a:rPr>
              <a:t>: blue road, red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05  /  ROUTE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Stages, road sections, and time controls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547104"/>
            <a:ext cx="9326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A917F"/>
                </a:solidFill>
                <a:latin typeface="Calibri"/>
              </a:rPr>
              <a:t>Rally GPS  ·  Cyprus Rally  ·  For FIA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6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2286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KMZ COLOUR RULE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Red line = special stage.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Blue line = road / liaison.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HQ can reclassify a path after upload.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5196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251960" y="1143000"/>
            <a:ext cx="54864" cy="2286000"/>
          </a:xfrm>
          <a:prstGeom prst="rect">
            <a:avLst/>
          </a:prstGeom>
          <a:solidFill>
            <a:srgbClr val="3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45312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7DFF"/>
                </a:solidFill>
                <a:latin typeface="Arial Narrow"/>
              </a:rPr>
              <a:t>PLACEMARKS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5312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TC, Start, Finish, Stop, Refueling.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Google Earth-style icons on the map and live KML.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Optional PNG replace per icon type, per rally.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46720" y="1143000"/>
            <a:ext cx="3657600" cy="228600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46720" y="1143000"/>
            <a:ext cx="54864" cy="228600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47888" y="1252728"/>
            <a:ext cx="33649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HQ TABS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47888" y="1527048"/>
            <a:ext cx="3328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All · Stages · Road · Time controls.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Counts shown per tab.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Click a section to fit it on the map.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3611880"/>
            <a:ext cx="11247120" cy="260604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57200" y="3611880"/>
            <a:ext cx="54864" cy="2606040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368" y="3721608"/>
            <a:ext cx="109545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HOW A CAR IS BOUND TO A SECTION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" y="3995928"/>
            <a:ext cx="1091793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The server matches the latest GPS fix to the LIVE rally KMZ.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Special stage if within about 80 m of a stage line (or inside a stage polygon); road if within about 120 m. If both are close, the stage wins.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The driver screen shows that KMZ stage name and switches to stage mode. This is KMZ proximity, not an official start/finish beam.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06  /  DRIVER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Stage mode — GREEN FLAG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547104"/>
            <a:ext cx="9326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A917F"/>
                </a:solidFill>
                <a:latin typeface="Calibri"/>
              </a:rPr>
              <a:t>Rally GPS  ·  Cyprus Rally  ·  For FIA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7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4904" y="1800674"/>
            <a:ext cx="7754111" cy="3622410"/>
          </a:xfrm>
          <a:prstGeom prst="roundRect">
            <a:avLst/>
          </a:prstGeom>
          <a:solidFill>
            <a:srgbClr val="181A14"/>
          </a:solidFill>
          <a:ln w="12700">
            <a:solidFill>
              <a:srgbClr val="FF7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stage-mode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37250"/>
            <a:ext cx="7680959" cy="3549258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229600" y="1143000"/>
            <a:ext cx="3520440" cy="498348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229600" y="1143000"/>
            <a:ext cx="54864" cy="4983480"/>
          </a:xfrm>
          <a:prstGeom prst="rect">
            <a:avLst/>
          </a:prstGeom>
          <a:solidFill>
            <a:srgbClr val="B6F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430768" y="1252728"/>
            <a:ext cx="32278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6F04A"/>
                </a:solidFill>
                <a:latin typeface="Arial Narrow"/>
              </a:rPr>
              <a:t>ON-STAGE DISPLAY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30768" y="1527048"/>
            <a:ext cx="3191256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Stage name from the event KMZ.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STAGE STATUS: GREEN FLAG while that stage is not red-flagged.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Large OK and SOS controls.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Speed readout.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Stop tracking remains available.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Web driver: keep the screen on unless the Android application is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07  /  SAFETY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RED FLAG procedure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547104"/>
            <a:ext cx="9326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A917F"/>
                </a:solidFill>
                <a:latin typeface="Calibri"/>
              </a:rPr>
              <a:t>Rally GPS  ·  Cyprus Rally  ·  For FIA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8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1556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1556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2529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1  HQ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499616"/>
            <a:ext cx="5340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On the Stages list, race control sets Red flag for that special stage only. Roads cannot be red-flagged.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09360" y="111556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309360" y="111556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510528" y="122529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2  SERVER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10528" y="1499616"/>
            <a:ext cx="5340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The flag and a timestamp are stored on that stage. Only cars currently detected on that stage inherit RED FLAG.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7200" y="280720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57200" y="280720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368" y="291693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3  CARS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" y="3191256"/>
            <a:ext cx="534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dirty="0">
                <a:solidFill>
                  <a:srgbClr val="F3EAD8"/>
                </a:solidFill>
                <a:latin typeface="Calibri"/>
              </a:rPr>
              <a:t>•  Devices receive flag state on GPS ping and on poll (web ~2 s, Android ~</a:t>
            </a:r>
            <a:r>
              <a:rPr lang="en-US" sz="1200" dirty="0">
                <a:solidFill>
                  <a:srgbClr val="F3EAD8"/>
                </a:solidFill>
                <a:latin typeface="Calibri"/>
              </a:rPr>
              <a:t>2</a:t>
            </a:r>
            <a:r>
              <a:rPr sz="1200" dirty="0">
                <a:solidFill>
                  <a:srgbClr val="F3EAD8"/>
                </a:solidFill>
                <a:latin typeface="Calibri"/>
              </a:rPr>
              <a:t> s) when connected.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309360" y="280720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309360" y="280720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10528" y="291693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4  CREW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10528" y="3191256"/>
            <a:ext cx="5340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Those cars get a full-screen RED FLAG, looping alarm, and must tap OK / CONFIRMED.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449884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57200" y="449884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58368" y="460857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5  HQ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8368" y="4882896"/>
            <a:ext cx="5340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The car list shows RED FLAG WAITING until acknowledgement, then RED FLAG ACKED.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09360" y="4498848"/>
            <a:ext cx="5669280" cy="1572768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309360" y="4498848"/>
            <a:ext cx="54864" cy="157276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510528" y="4608576"/>
            <a:ext cx="53766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6  CLEAR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10528" y="4882896"/>
            <a:ext cx="53400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flag returns the stage to normal. A later red flag is a new event (new timestamp).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08  /  CREW CONFIRMATION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RED FLAG — display and acknowledgement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547104"/>
            <a:ext cx="9326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A917F"/>
                </a:solidFill>
                <a:latin typeface="Calibri"/>
              </a:rPr>
              <a:t>Rally GPS  ·  Cyprus Rally  ·  For FIA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9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9184" y="1145318"/>
            <a:ext cx="5742432" cy="2692842"/>
          </a:xfrm>
          <a:prstGeom prst="roundRect">
            <a:avLst/>
          </a:prstGeom>
          <a:solidFill>
            <a:srgbClr val="181A14"/>
          </a:solidFill>
          <a:ln w="12700">
            <a:solidFill>
              <a:srgbClr val="FF7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stage-mode-landscape-red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1894"/>
            <a:ext cx="5669280" cy="2619690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6135624" y="1166445"/>
            <a:ext cx="5650992" cy="2650589"/>
          </a:xfrm>
          <a:prstGeom prst="roundRect">
            <a:avLst/>
          </a:prstGeom>
          <a:solidFill>
            <a:srgbClr val="181A14"/>
          </a:solidFill>
          <a:ln w="12700">
            <a:solidFill>
              <a:srgbClr val="FF7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stage-mode-landscape-red-flag-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03021"/>
            <a:ext cx="5577840" cy="257743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11480" y="3913632"/>
            <a:ext cx="5577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917F"/>
                </a:solidFill>
                <a:latin typeface="Calibri"/>
              </a:rPr>
              <a:t>Stage panel after HQ red-flags that stage.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17920" y="39136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917F"/>
                </a:solidFill>
                <a:latin typeface="Calibri"/>
              </a:rPr>
              <a:t>Full-screen alert until OK / CONFIRMED.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4206240"/>
            <a:ext cx="11247120" cy="210312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57200" y="4206240"/>
            <a:ext cx="54864" cy="21031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58368" y="4315968"/>
            <a:ext cx="109545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CREW-FACING BEHAVIOUR (AS IMPLEMENTED)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8368" y="4590288"/>
            <a:ext cx="1091793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Full-screen RED FLAG overlay with flashing treatment and a looping alarm. Message: “Stage stopped. Confirm the crew has seen this red flag.”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Shown only to cars currently ON that red-flagged special stage, until they acknowledge. After ack, the panel stays RED FLAG while HQ keeps the stage red.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If the device is offline, the flag arrives on the next successful poll/ping; GPS continues to queue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2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673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630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934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56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0195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408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716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334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7977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7238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186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6499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112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039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5020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965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4281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542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817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2803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7433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6694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1324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5955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585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5216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9846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4476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3737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368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2998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7628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2259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889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6150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780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0041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4672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9302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932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8563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3193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2454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07084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1715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6345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509760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65606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02368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4867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94976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24128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87584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53388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0192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826496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972800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119104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265408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411712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558016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704320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850624" y="0"/>
            <a:ext cx="146304" cy="109728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996928" y="0"/>
            <a:ext cx="146304" cy="1097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2143232" y="0"/>
            <a:ext cx="146304" cy="109728"/>
          </a:xfrm>
          <a:prstGeom prst="rect">
            <a:avLst/>
          </a:prstGeom>
          <a:solidFill>
            <a:srgbClr val="FF7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2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999" cy="228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25603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7A18"/>
                </a:solidFill>
                <a:latin typeface="Arial Narrow"/>
              </a:rPr>
              <a:t>09  /  SAFETY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57200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3EAD8"/>
                </a:solidFill>
                <a:latin typeface="Arial Narrow"/>
              </a:rPr>
              <a:t>Stopped-crew and SOS procedure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932688"/>
            <a:ext cx="658368" cy="32004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6547104"/>
            <a:ext cx="9326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A917F"/>
                </a:solidFill>
                <a:latin typeface="Calibri"/>
              </a:rPr>
              <a:t>Rally GPS  ·  Cyprus Rally  ·  For FIA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47104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9A917F"/>
                </a:solidFill>
                <a:latin typeface="Calibri"/>
              </a:rPr>
              <a:t>10  /  15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1143000"/>
            <a:ext cx="5532120" cy="288036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57200" y="1143000"/>
            <a:ext cx="54864" cy="2880360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8368" y="1252728"/>
            <a:ext cx="52395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C14A"/>
                </a:solidFill>
                <a:latin typeface="Arial Narrow"/>
              </a:rPr>
              <a:t>AUTOMATIC PROMPT ON STAGE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1527048"/>
            <a:ext cx="5202936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On a special stage, if speed stays below ~4 km/h for more than 20 seconds, STOPPED ON STAGE appears.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OK — both crew OK.  RED SOS — need help.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Manual OK / SOS are also available in stage mode.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An unacknowledged RED FLAG overlay takes priority over this prompt.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72200" y="1143000"/>
            <a:ext cx="5532120" cy="2880360"/>
          </a:xfrm>
          <a:prstGeom prst="roundRect">
            <a:avLst/>
          </a:prstGeom>
          <a:solidFill>
            <a:srgbClr val="181A14"/>
          </a:solidFill>
          <a:ln w="7620">
            <a:solidFill>
              <a:srgbClr val="2C2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172200" y="1143000"/>
            <a:ext cx="54864" cy="2880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73368" y="1252728"/>
            <a:ext cx="52395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3B30"/>
                </a:solidFill>
                <a:latin typeface="Arial Narrow"/>
              </a:rPr>
              <a:t>WHAT RACE CONTROL SEES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73368" y="1527048"/>
            <a:ext cx="5202936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GREEN OK or RED SOS on the car list.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SOS forces the map marker red.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Crew status is tied to the current stage and clears when the car leaves it.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3EAD8"/>
                </a:solidFill>
                <a:latin typeface="Calibri"/>
              </a:rPr>
              <a:t>•  This does not replace official SOS boards, radio, medical, or rescue.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1306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Christoforos Karaolis</cp:lastModifiedBy>
  <cp:revision>2</cp:revision>
  <dcterms:created xsi:type="dcterms:W3CDTF">2013-01-27T09:14:16Z</dcterms:created>
  <dcterms:modified xsi:type="dcterms:W3CDTF">2026-09-21T12:18:34Z</dcterms:modified>
  <cp:category/>
</cp:coreProperties>
</file>